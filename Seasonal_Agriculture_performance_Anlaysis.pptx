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8"/>
  </p:notesMasterIdLst>
  <p:handoutMasterIdLst>
    <p:handoutMasterId r:id="rId19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0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63" d="100"/>
          <a:sy n="63" d="100"/>
        </p:scale>
        <p:origin x="724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thirmai-09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10050596" cy="8107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</a:t>
            </a:r>
            <a:r>
              <a:rPr lang="en-GB" sz="3200"/>
              <a:t>Title - </a:t>
            </a:r>
            <a:r>
              <a:rPr lang="en-IN" sz="320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IN" sz="2800"/>
              <a:t>Agricultural performance varies across seasons due to changes in environmental conditions, farming practices, resource availability, and market conditions.</a:t>
            </a:r>
          </a:p>
          <a:p>
            <a:r>
              <a:rPr lang="en-IN" sz="2800"/>
              <a:t>However, raw agricultural data does not clearly show how performance changes across seasons.</a:t>
            </a:r>
          </a:p>
          <a:p>
            <a:r>
              <a:rPr lang="en-IN" sz="2800"/>
              <a:t>This project analyzes agricultural data to identify </a:t>
            </a:r>
            <a:r>
              <a:rPr lang="en-IN" sz="2800" b="1"/>
              <a:t>seasonal differences, patterns, trends, relationships, and variations</a:t>
            </a:r>
            <a:r>
              <a:rPr lang="en-IN" sz="2800"/>
              <a:t> in yield, production, resource usage, and economic performance.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70308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/>
              <a:t>Project Description</a:t>
            </a:r>
            <a:br>
              <a:rPr lang="en-GB"/>
            </a:br>
            <a:br>
              <a:rPr lang="en-GB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EA9552-E07D-D524-1DFB-C61C1B9F55FD}"/>
              </a:ext>
            </a:extLst>
          </p:cNvPr>
          <p:cNvSpPr txBox="1"/>
          <p:nvPr/>
        </p:nvSpPr>
        <p:spPr>
          <a:xfrm>
            <a:off x="467359" y="1259681"/>
            <a:ext cx="1150858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 b="1"/>
              <a:t>Seasonal Agriculture Performance Analysis</a:t>
            </a:r>
            <a:r>
              <a:rPr lang="en-IN" sz="2200"/>
              <a:t> is a data analysis project that studies agricultural performance across different seasons, crops, and regions.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20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/>
              <a:t>The project uses a dataset containing </a:t>
            </a:r>
            <a:r>
              <a:rPr lang="en-IN" sz="2200" b="1"/>
              <a:t>4,000 farm records and 28 variables</a:t>
            </a:r>
            <a:r>
              <a:rPr lang="en-IN" sz="2200"/>
              <a:t> covering environmental conditions, soil characteristics, farming practices, resource usage, crop yield, production, revenue, cost, profit, water efficiency, and disease/pest risk.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20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/>
              <a:t>The data was cleaned and analyzed using Python, Pandas, NumPy, Matplotlib, and Seaborn. Seasonal, crop-wise, state-wise, and state-season comparisons were performed along with correlation analysis, statistical testing, visualization, and outlier detection.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20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200"/>
              <a:t>The analysis helps identify seasonal patterns, high-performing combinations, resource-use differences, and areas that require better agricultural planning.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1"/>
            <a:ext cx="7924801" cy="3576320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IN" sz="3600"/>
              <a:t>👨‍🌾 </a:t>
            </a:r>
            <a:r>
              <a:rPr lang="en-IN" sz="3600" b="1"/>
              <a:t>Farmers</a:t>
            </a:r>
            <a:r>
              <a:rPr lang="en-IN" sz="3600"/>
              <a:t> – To select suitable crops and seasons. </a:t>
            </a:r>
          </a:p>
          <a:p>
            <a:pPr lvl="0"/>
            <a:r>
              <a:rPr lang="en-IN" sz="3600"/>
              <a:t>🌾 </a:t>
            </a:r>
            <a:r>
              <a:rPr lang="en-IN" sz="3600" b="1"/>
              <a:t>Agricultural Planners</a:t>
            </a:r>
            <a:r>
              <a:rPr lang="en-IN" sz="3600"/>
              <a:t> – To plan crops and manage resources effectively. </a:t>
            </a:r>
          </a:p>
          <a:p>
            <a:pPr lvl="0"/>
            <a:r>
              <a:rPr lang="en-IN" sz="3600"/>
              <a:t>🏛️ </a:t>
            </a:r>
            <a:r>
              <a:rPr lang="en-IN" sz="3600" b="1"/>
              <a:t>Government Agriculture Departments</a:t>
            </a:r>
            <a:r>
              <a:rPr lang="en-IN" sz="3600"/>
              <a:t> – To support agricultural policies and decisions. </a:t>
            </a:r>
          </a:p>
          <a:p>
            <a:pPr lvl="0"/>
            <a:r>
              <a:rPr lang="en-IN" sz="3600"/>
              <a:t>💼 </a:t>
            </a:r>
            <a:r>
              <a:rPr lang="en-IN" sz="3600" b="1"/>
              <a:t>Agribusiness &amp; Market Planners</a:t>
            </a:r>
            <a:r>
              <a:rPr lang="en-IN" sz="3600"/>
              <a:t> – To understand production and profitability trends. </a:t>
            </a:r>
          </a:p>
          <a:p>
            <a:pPr lvl="0"/>
            <a:r>
              <a:rPr lang="en-IN" sz="3600"/>
              <a:t>🔬 </a:t>
            </a:r>
            <a:r>
              <a:rPr lang="en-IN" sz="3600" b="1"/>
              <a:t>Researchers &amp; Students</a:t>
            </a:r>
            <a:r>
              <a:rPr lang="en-IN" sz="3600"/>
              <a:t> – To study agricultural patterns and performance.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9200" y="1595120"/>
            <a:ext cx="7965440" cy="4978400"/>
          </a:xfrm>
        </p:spPr>
        <p:txBody>
          <a:bodyPr>
            <a:normAutofit/>
          </a:bodyPr>
          <a:lstStyle/>
          <a:p>
            <a:pPr lvl="0" algn="just"/>
            <a:r>
              <a:rPr lang="en-IN" b="1"/>
              <a:t>Python</a:t>
            </a:r>
            <a:r>
              <a:rPr lang="en-IN"/>
              <a:t> – Data analysis and processing </a:t>
            </a:r>
          </a:p>
          <a:p>
            <a:pPr lvl="0" algn="just"/>
            <a:r>
              <a:rPr lang="en-IN" b="1"/>
              <a:t>Jupyter Notebook</a:t>
            </a:r>
            <a:r>
              <a:rPr lang="en-IN"/>
              <a:t> – Project development and analysis </a:t>
            </a:r>
          </a:p>
          <a:p>
            <a:pPr lvl="0" algn="just"/>
            <a:r>
              <a:rPr lang="en-IN" b="1"/>
              <a:t>Pandas</a:t>
            </a:r>
            <a:r>
              <a:rPr lang="en-IN"/>
              <a:t> – Data cleaning and manipulation </a:t>
            </a:r>
          </a:p>
          <a:p>
            <a:pPr lvl="0" algn="just"/>
            <a:r>
              <a:rPr lang="en-IN" b="1"/>
              <a:t>NumPy</a:t>
            </a:r>
            <a:r>
              <a:rPr lang="en-IN"/>
              <a:t> – Numerical analysis </a:t>
            </a:r>
          </a:p>
          <a:p>
            <a:pPr lvl="0" algn="just"/>
            <a:r>
              <a:rPr lang="en-IN" b="1"/>
              <a:t>Matplotlib</a:t>
            </a:r>
            <a:r>
              <a:rPr lang="en-IN"/>
              <a:t> – Data visualization </a:t>
            </a:r>
          </a:p>
          <a:p>
            <a:pPr lvl="0" algn="just"/>
            <a:r>
              <a:rPr lang="en-IN" b="1"/>
              <a:t>Seaborn</a:t>
            </a:r>
            <a:r>
              <a:rPr lang="en-IN"/>
              <a:t> – Statistical visualizations </a:t>
            </a:r>
          </a:p>
          <a:p>
            <a:pPr lvl="0" algn="just"/>
            <a:r>
              <a:rPr lang="en-IN" b="1"/>
              <a:t>SciPy</a:t>
            </a:r>
            <a:r>
              <a:rPr lang="en-IN"/>
              <a:t> – Statistical testing </a:t>
            </a:r>
          </a:p>
          <a:p>
            <a:pPr lvl="0" algn="just"/>
            <a:r>
              <a:rPr lang="en-IN" b="1"/>
              <a:t>CSV Dataset</a:t>
            </a:r>
            <a:r>
              <a:rPr lang="en-IN"/>
              <a:t> – Agricultural data source</a:t>
            </a:r>
          </a:p>
          <a:p>
            <a:pPr lvl="1" algn="just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2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024037"/>
            <a:ext cx="4295374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 b="1"/>
              <a:t>Overall Seasonal Results</a:t>
            </a:r>
            <a:endParaRPr lang="en-GB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0DEC1E-6F9B-221B-A84C-A2F3F413F752}"/>
              </a:ext>
            </a:extLst>
          </p:cNvPr>
          <p:cNvSpPr txBox="1"/>
          <p:nvPr/>
        </p:nvSpPr>
        <p:spPr>
          <a:xfrm>
            <a:off x="320982" y="1855034"/>
            <a:ext cx="509148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Kharif</a:t>
            </a:r>
            <a:r>
              <a:rPr lang="en-IN"/>
              <a:t> had the highest average yield: </a:t>
            </a:r>
            <a:r>
              <a:rPr lang="en-IN" b="1"/>
              <a:t>5.63 tonnes/ha</a:t>
            </a:r>
            <a:r>
              <a:rPr lang="en-IN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Rabi</a:t>
            </a:r>
            <a:r>
              <a:rPr lang="en-IN"/>
              <a:t> had an average yield of </a:t>
            </a:r>
            <a:r>
              <a:rPr lang="en-IN" b="1"/>
              <a:t>5.04 tonnes/ha</a:t>
            </a:r>
            <a:r>
              <a:rPr lang="en-IN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Zaid</a:t>
            </a:r>
            <a:r>
              <a:rPr lang="en-IN"/>
              <a:t> had the lowest average yield: </a:t>
            </a:r>
            <a:r>
              <a:rPr lang="en-IN" b="1"/>
              <a:t>4.64 tonnes/ha</a:t>
            </a:r>
            <a:r>
              <a:rPr lang="en-IN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Kharif</a:t>
            </a:r>
            <a:r>
              <a:rPr lang="en-IN"/>
              <a:t> had the highest average profit: </a:t>
            </a:r>
            <a:r>
              <a:rPr lang="en-IN" b="1"/>
              <a:t>₹178,915</a:t>
            </a:r>
            <a:r>
              <a:rPr lang="en-IN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Zaid</a:t>
            </a:r>
            <a:r>
              <a:rPr lang="en-IN"/>
              <a:t> recorded an average loss of approximately </a:t>
            </a:r>
            <a:r>
              <a:rPr lang="en-IN" b="1"/>
              <a:t>₹24,805</a:t>
            </a:r>
            <a:r>
              <a:rPr lang="en-IN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Sugarcane</a:t>
            </a:r>
            <a:r>
              <a:rPr lang="en-IN"/>
              <a:t> had the highest average yield across all seasons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Kharif</a:t>
            </a:r>
            <a:r>
              <a:rPr lang="en-IN"/>
              <a:t> had the highest water efficiency: </a:t>
            </a:r>
            <a:r>
              <a:rPr lang="en-IN" b="1"/>
              <a:t>5.89 t/1000 m³</a:t>
            </a:r>
            <a:r>
              <a:rPr lang="en-IN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/>
              <a:t>Punjab–Rabi</a:t>
            </a:r>
            <a:r>
              <a:rPr lang="en-IN"/>
              <a:t> recorded the highest state-season yield: </a:t>
            </a:r>
            <a:r>
              <a:rPr lang="en-IN" b="1"/>
              <a:t>8.61 tonnes/ha</a:t>
            </a:r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C7C68B1-80C4-F33A-EB3F-E75C2AB6A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225" y="1024037"/>
            <a:ext cx="6458553" cy="538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940" y="196746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208671" y="996335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/>
              <a:t>Crop-wise Results</a:t>
            </a:r>
            <a:endParaRPr lang="en-GB" sz="2400" b="1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6840" y="4916552"/>
            <a:ext cx="9418320" cy="1921107"/>
          </a:xfrm>
        </p:spPr>
        <p:txBody>
          <a:bodyPr>
            <a:normAutofit/>
          </a:bodyPr>
          <a:lstStyle/>
          <a:p>
            <a:pPr lvl="0"/>
            <a:r>
              <a:rPr lang="en-IN" b="1"/>
              <a:t>Sugarcane</a:t>
            </a:r>
            <a:r>
              <a:rPr lang="en-IN"/>
              <a:t> had the highest average yield across all seasons. </a:t>
            </a:r>
          </a:p>
          <a:p>
            <a:pPr lvl="0"/>
            <a:r>
              <a:rPr lang="en-IN" b="1"/>
              <a:t>Sugarcane:</a:t>
            </a:r>
            <a:r>
              <a:rPr lang="en-IN"/>
              <a:t> ₹817,188 average profit </a:t>
            </a:r>
          </a:p>
          <a:p>
            <a:pPr lvl="0"/>
            <a:r>
              <a:rPr lang="en-IN" b="1"/>
              <a:t>Chilli:</a:t>
            </a:r>
            <a:r>
              <a:rPr lang="en-IN"/>
              <a:t> ₹750,878 average profit </a:t>
            </a:r>
          </a:p>
          <a:p>
            <a:pPr lvl="0"/>
            <a:r>
              <a:rPr lang="en-IN"/>
              <a:t>Sugarcane and Chilli were the strongest-performing crops.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DDAB58-796E-1C20-B39E-3BDC2E312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522534"/>
            <a:ext cx="4515082" cy="31149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0C172FB-2877-1D06-D40D-D14A4060B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998" y="1329375"/>
            <a:ext cx="5430624" cy="33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4547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191" y="197574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51462" y="1662413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1521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4991" y="4736326"/>
            <a:ext cx="10403840" cy="1994689"/>
          </a:xfrm>
        </p:spPr>
        <p:txBody>
          <a:bodyPr>
            <a:normAutofit lnSpcReduction="10000"/>
          </a:bodyPr>
          <a:lstStyle/>
          <a:p>
            <a:pPr lvl="0"/>
            <a:r>
              <a:rPr lang="en-IN" b="1"/>
              <a:t>Punjab – Rabi</a:t>
            </a:r>
            <a:r>
              <a:rPr lang="en-IN"/>
              <a:t> recorded the highest yield: </a:t>
            </a:r>
            <a:r>
              <a:rPr lang="en-IN" b="1"/>
              <a:t>8.61 tonnes/ha</a:t>
            </a:r>
            <a:r>
              <a:rPr lang="en-IN"/>
              <a:t> </a:t>
            </a:r>
          </a:p>
          <a:p>
            <a:pPr lvl="0"/>
            <a:r>
              <a:rPr lang="en-IN" b="1"/>
              <a:t>Karnataka – Zaid</a:t>
            </a:r>
            <a:r>
              <a:rPr lang="en-IN"/>
              <a:t> recorded </a:t>
            </a:r>
            <a:r>
              <a:rPr lang="en-IN" b="1"/>
              <a:t>6.62 tonnes/ha</a:t>
            </a:r>
            <a:r>
              <a:rPr lang="en-IN"/>
              <a:t> </a:t>
            </a:r>
          </a:p>
          <a:p>
            <a:pPr lvl="0"/>
            <a:r>
              <a:rPr lang="en-IN" b="1"/>
              <a:t>Maharashtra – Zaid</a:t>
            </a:r>
            <a:r>
              <a:rPr lang="en-IN"/>
              <a:t> recorded the lowest yield: </a:t>
            </a:r>
            <a:r>
              <a:rPr lang="en-IN" b="1"/>
              <a:t>2.28 tonnes/ha</a:t>
            </a:r>
            <a:r>
              <a:rPr lang="en-IN"/>
              <a:t> </a:t>
            </a:r>
          </a:p>
          <a:p>
            <a:pPr lvl="0"/>
            <a:r>
              <a:rPr lang="en-IN" b="1"/>
              <a:t>Punjab</a:t>
            </a:r>
            <a:r>
              <a:rPr lang="en-IN"/>
              <a:t> showed the highest seasonal variation: </a:t>
            </a:r>
            <a:r>
              <a:rPr lang="en-IN" b="1"/>
              <a:t>4.51 tonnes/ha</a:t>
            </a:r>
            <a:r>
              <a:rPr lang="en-IN"/>
              <a:t> </a:t>
            </a:r>
          </a:p>
          <a:p>
            <a:pPr lvl="0"/>
            <a:r>
              <a:rPr lang="en-IN" b="1"/>
              <a:t>Telangana</a:t>
            </a:r>
            <a:r>
              <a:rPr lang="en-IN"/>
              <a:t> showed the lowest seasonal variation: </a:t>
            </a:r>
            <a:r>
              <a:rPr lang="en-IN" b="1"/>
              <a:t>1.30 tonnes/ha</a:t>
            </a:r>
            <a:endParaRPr lang="en-IN"/>
          </a:p>
        </p:txBody>
      </p:sp>
      <p:sp>
        <p:nvSpPr>
          <p:cNvPr id="2" name="Text Placeholder 30">
            <a:extLst>
              <a:ext uri="{FF2B5EF4-FFF2-40B4-BE49-F238E27FC236}">
                <a16:creationId xmlns:a16="http://schemas.microsoft.com/office/drawing/2014/main" id="{2C2753F0-320A-4A64-8639-1AE33CBC17C1}"/>
              </a:ext>
            </a:extLst>
          </p:cNvPr>
          <p:cNvSpPr txBox="1">
            <a:spLocks/>
          </p:cNvSpPr>
          <p:nvPr/>
        </p:nvSpPr>
        <p:spPr>
          <a:xfrm>
            <a:off x="178191" y="930279"/>
            <a:ext cx="4038209" cy="666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 b="1"/>
              <a:t>State &amp; Season Results</a:t>
            </a:r>
            <a:endParaRPr lang="en-GB" sz="2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7691B4C-0AAC-AAF6-2471-26D65902A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18" y="1555653"/>
            <a:ext cx="5122642" cy="31146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F76AFE-A0DA-618F-AACC-FABEE9EED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958" y="1555653"/>
            <a:ext cx="5448580" cy="318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191" y="157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4236720"/>
            <a:ext cx="10246917" cy="2865120"/>
          </a:xfrm>
        </p:spPr>
        <p:txBody>
          <a:bodyPr>
            <a:noAutofit/>
          </a:bodyPr>
          <a:lstStyle/>
          <a:p>
            <a:pPr lvl="0"/>
            <a:r>
              <a:rPr lang="en-IN" b="1"/>
              <a:t>Zaid</a:t>
            </a:r>
            <a:r>
              <a:rPr lang="en-IN"/>
              <a:t> used the highest average water: </a:t>
            </a:r>
            <a:r>
              <a:rPr lang="en-IN" b="1"/>
              <a:t>6419.89 m³</a:t>
            </a:r>
            <a:r>
              <a:rPr lang="en-IN"/>
              <a:t> </a:t>
            </a:r>
          </a:p>
          <a:p>
            <a:pPr lvl="0"/>
            <a:r>
              <a:rPr lang="en-IN" b="1"/>
              <a:t>Zaid</a:t>
            </a:r>
            <a:r>
              <a:rPr lang="en-IN"/>
              <a:t> had the lowest water efficiency: </a:t>
            </a:r>
            <a:r>
              <a:rPr lang="en-IN" b="1"/>
              <a:t>4.41 t/1000 m³</a:t>
            </a:r>
            <a:r>
              <a:rPr lang="en-IN"/>
              <a:t> </a:t>
            </a:r>
          </a:p>
          <a:p>
            <a:pPr lvl="0"/>
            <a:r>
              <a:rPr lang="en-IN" b="1"/>
              <a:t>Kharif</a:t>
            </a:r>
            <a:r>
              <a:rPr lang="en-IN"/>
              <a:t> had the highest water efficiency: </a:t>
            </a:r>
            <a:r>
              <a:rPr lang="en-IN" b="1"/>
              <a:t>5.89 t/1000 m³</a:t>
            </a:r>
            <a:r>
              <a:rPr lang="en-IN"/>
              <a:t> </a:t>
            </a:r>
          </a:p>
          <a:p>
            <a:pPr lvl="0"/>
            <a:r>
              <a:rPr lang="en-IN" b="1"/>
              <a:t>Rainfed irrigation</a:t>
            </a:r>
            <a:r>
              <a:rPr lang="en-IN"/>
              <a:t> showed the highest water efficiency: </a:t>
            </a:r>
            <a:r>
              <a:rPr lang="en-IN" b="1"/>
              <a:t>7.56 t/1000 m³</a:t>
            </a:r>
            <a:r>
              <a:rPr lang="en-IN"/>
              <a:t> </a:t>
            </a:r>
          </a:p>
          <a:p>
            <a:pPr lvl="0"/>
            <a:r>
              <a:rPr lang="en-IN" b="1"/>
              <a:t>Kharif</a:t>
            </a:r>
            <a:r>
              <a:rPr lang="en-IN"/>
              <a:t> had the highest rainfall: </a:t>
            </a:r>
            <a:r>
              <a:rPr lang="en-IN" b="1"/>
              <a:t>849.20 mm</a:t>
            </a:r>
            <a:r>
              <a:rPr lang="en-IN"/>
              <a:t> </a:t>
            </a:r>
          </a:p>
          <a:p>
            <a:pPr lvl="0"/>
            <a:r>
              <a:rPr lang="en-IN" b="1"/>
              <a:t>Zaid</a:t>
            </a:r>
            <a:r>
              <a:rPr lang="en-IN"/>
              <a:t> had the highest temperature: </a:t>
            </a:r>
            <a:r>
              <a:rPr lang="en-IN" b="1"/>
              <a:t>31.04°C</a:t>
            </a:r>
            <a:endParaRPr lang="en-IN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ext Placeholder 30">
            <a:extLst>
              <a:ext uri="{FF2B5EF4-FFF2-40B4-BE49-F238E27FC236}">
                <a16:creationId xmlns:a16="http://schemas.microsoft.com/office/drawing/2014/main" id="{D9B95644-B8C1-EB77-9A5C-369CD3F20C8C}"/>
              </a:ext>
            </a:extLst>
          </p:cNvPr>
          <p:cNvSpPr txBox="1">
            <a:spLocks/>
          </p:cNvSpPr>
          <p:nvPr/>
        </p:nvSpPr>
        <p:spPr>
          <a:xfrm>
            <a:off x="178191" y="926214"/>
            <a:ext cx="5917809" cy="666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 b="1"/>
              <a:t>Water &amp; Environmental Results</a:t>
            </a:r>
            <a:endParaRPr lang="en-GB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513F27-EFD4-9175-B5A4-70986388B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205" y="1472556"/>
            <a:ext cx="5917809" cy="28282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2DC899-428B-F9BE-82DD-6250CE85D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90" y="1472556"/>
            <a:ext cx="5917809" cy="276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9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256697" y="911001"/>
            <a:ext cx="4221941" cy="4541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 b="1"/>
              <a:t>STATISTICAL</a:t>
            </a:r>
            <a:r>
              <a:rPr lang="en-IN" sz="2000" b="1"/>
              <a:t> &amp; OUTLIER RESULTS</a:t>
            </a:r>
            <a:endParaRPr lang="en-GB" sz="2000" b="1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56640" y="4297680"/>
            <a:ext cx="11277600" cy="236728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/>
              <a:t>Kruskal-Wallis test showed a significant difference in yield across seasons. </a:t>
            </a:r>
          </a:p>
          <a:p>
            <a:pPr lvl="0"/>
            <a:r>
              <a:rPr lang="en-IN"/>
              <a:t>P-value = 1.20 × 10⁻¹⁵ (&lt; 0.05). </a:t>
            </a:r>
          </a:p>
          <a:p>
            <a:pPr lvl="0"/>
            <a:r>
              <a:rPr lang="en-IN"/>
              <a:t>Profit outlier analysis identified </a:t>
            </a:r>
            <a:r>
              <a:rPr lang="en-IN" b="1"/>
              <a:t>404 unusual observations</a:t>
            </a:r>
            <a:r>
              <a:rPr lang="en-IN"/>
              <a:t>. </a:t>
            </a:r>
          </a:p>
          <a:p>
            <a:pPr lvl="0"/>
            <a:r>
              <a:rPr lang="en-IN"/>
              <a:t>Profit was strongly associated with Revenue (0.89). </a:t>
            </a:r>
          </a:p>
          <a:p>
            <a:pPr lvl="0"/>
            <a:r>
              <a:rPr lang="en-IN"/>
              <a:t>Yield was strongly associated with Water Efficiency (0.91). </a:t>
            </a:r>
          </a:p>
          <a:p>
            <a:pPr lvl="0"/>
            <a:r>
              <a:rPr lang="en-IN"/>
              <a:t>Outliers included both unusually high profits and large losses.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E2BBE9-3494-F246-E076-207FBB702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1138098"/>
            <a:ext cx="6093303" cy="30681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FD4CA1-E8E5-8667-F86C-D8D48CA23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40" y="1376505"/>
            <a:ext cx="5181600" cy="275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3EFAF-8E9B-91DE-3809-99E338B8D98B}"/>
              </a:ext>
            </a:extLst>
          </p:cNvPr>
          <p:cNvSpPr txBox="1"/>
          <p:nvPr/>
        </p:nvSpPr>
        <p:spPr>
          <a:xfrm>
            <a:off x="594677" y="1496227"/>
            <a:ext cx="88439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/>
              <a:t>Develop machine learning models to predict crop yield and profit.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/>
              <a:t>Build crop recommendation systems based on season and environmental conditions.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/>
              <a:t>Use weather forecasting data for better seasonal planning.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/>
              <a:t>Create an interactive dashboard for farmers and agricultural planners.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/>
              <a:t>Integrate real-time agricultural and market data.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/>
              <a:t>Perform deeper analysis of crop costs, prices, and profitability.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2400"/>
              <a:t>Provide personalized recommendations for crop and resource management.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675957" y="2866656"/>
            <a:ext cx="9936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https://github.com/Jyothirmai-09/Seasonal-Agriculture-Performance-Analysis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858520"/>
            <a:ext cx="11340000" cy="514096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16c05727-aa75-4e4a-9b5f-8a80a1165891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71af3243-3dd4-4a8d-8c0d-dd76da1f02a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1492</TotalTime>
  <Words>718</Words>
  <Application>Microsoft Office PowerPoint</Application>
  <PresentationFormat>Widescreen</PresentationFormat>
  <Paragraphs>81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SEEPANA JYOTHIRMAI</cp:lastModifiedBy>
  <cp:revision>100</cp:revision>
  <dcterms:created xsi:type="dcterms:W3CDTF">2021-07-11T13:13:15Z</dcterms:created>
  <dcterms:modified xsi:type="dcterms:W3CDTF">2026-09-07T11:45:39Z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